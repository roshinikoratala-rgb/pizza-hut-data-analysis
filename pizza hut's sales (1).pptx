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4052" r:id="rId1"/>
  </p:sldMasterIdLst>
  <p:notesMasterIdLst>
    <p:notesMasterId r:id="rId18"/>
  </p:notesMasterIdLst>
  <p:handoutMasterIdLst>
    <p:handoutMasterId r:id="rId19"/>
  </p:handoutMasterIdLst>
  <p:sldIdLst>
    <p:sldId id="270" r:id="rId2"/>
    <p:sldId id="266" r:id="rId3"/>
    <p:sldId id="275" r:id="rId4"/>
    <p:sldId id="258" r:id="rId5"/>
    <p:sldId id="259" r:id="rId6"/>
    <p:sldId id="260" r:id="rId7"/>
    <p:sldId id="273" r:id="rId8"/>
    <p:sldId id="261" r:id="rId9"/>
    <p:sldId id="262" r:id="rId10"/>
    <p:sldId id="271" r:id="rId11"/>
    <p:sldId id="263" r:id="rId12"/>
    <p:sldId id="267" r:id="rId13"/>
    <p:sldId id="268" r:id="rId14"/>
    <p:sldId id="269" r:id="rId15"/>
    <p:sldId id="265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D32F79-BFDE-9FD6-304F-0BAA8698D4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57F5F-C4BE-2597-79D4-07AE8F57D0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27C6F-6CEE-4675-9132-E1F74AD38CBE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53F0E-B84E-93B4-C5C8-F624796FBD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7573A-4B96-975E-D617-BC138A87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26103-C773-4A69-A59B-B21C33FB9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56948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52C1F-314A-44F4-A056-69D3641416CC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14DA2-99C6-47B1-9877-1C85406EE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59620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14DA2-99C6-47B1-9877-1C85406EE71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743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14DA2-99C6-47B1-9877-1C85406EE71F}" type="slidenum">
              <a:rPr lang="en-IN" smtClean="0"/>
              <a:t>5</a:t>
            </a:fld>
            <a:endParaRPr lang="en-IN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C7ACD18-FAE5-FB97-D2BD-31EC6FB59D5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5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14DA2-99C6-47B1-9877-1C85406EE71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139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14DA2-99C6-47B1-9877-1C85406EE71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657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05F1-E18E-4BD5-BF19-9489C44AF06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F320-026A-4580-8E59-AB4EEA4A94B4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8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C4F09-E790-4C8C-899B-B7A139643328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0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F002-5A2F-4D90-B275-F61716BC90DF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5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48452-05F9-47BA-990D-F9CF3DE9FEEE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4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B7F19-8FD9-4CE4-B0B9-4888A9BAC257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3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72DC6-65C0-4EAF-A6FF-0AA9B7B86B31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9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A1F6-1DF9-4E9C-A7D1-8D6274CF2820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9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EE1DC-5A29-4305-93DF-DF835BDAA212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A687-FACE-41A8-B2A8-49591D44E6A9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1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A6BE8-8B43-4058-988C-DF6316881C75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1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45500-19F6-436D-87C6-B286E5A8B9B1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20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7" Type="http://schemas.openxmlformats.org/officeDocument/2006/relationships/image" Target="../media/image10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mp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tmp"/><Relationship Id="rId4" Type="http://schemas.openxmlformats.org/officeDocument/2006/relationships/image" Target="../media/image19.tm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tmp"/><Relationship Id="rId4" Type="http://schemas.openxmlformats.org/officeDocument/2006/relationships/image" Target="../media/image26.tm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7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6AF28B-939E-970A-F68C-86ADA661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538F6-86B9-AFC2-35D5-C73512090DBE}"/>
              </a:ext>
            </a:extLst>
          </p:cNvPr>
          <p:cNvSpPr txBox="1"/>
          <p:nvPr/>
        </p:nvSpPr>
        <p:spPr>
          <a:xfrm>
            <a:off x="3003206" y="2100918"/>
            <a:ext cx="2366802" cy="4901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85" b="1" dirty="0"/>
              <a:t>SALES ANALYSIS</a:t>
            </a:r>
            <a:endParaRPr lang="en-IN" sz="2585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5B29CA-C6EB-619D-D709-EEE498A92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072" y="2696458"/>
            <a:ext cx="4922015" cy="3554487"/>
          </a:xfrm>
          <a:prstGeom prst="rect">
            <a:avLst/>
          </a:prstGeom>
          <a:blipFill dpi="0" rotWithShape="1">
            <a:blip r:embed="rId4">
              <a:alphaModFix amt="87000"/>
            </a:blip>
            <a:srcRect/>
            <a:stretch>
              <a:fillRect/>
            </a:stretch>
          </a:blip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62F3D0-0656-8577-D375-B705C5A72FA6}"/>
              </a:ext>
            </a:extLst>
          </p:cNvPr>
          <p:cNvSpPr txBox="1"/>
          <p:nvPr/>
        </p:nvSpPr>
        <p:spPr>
          <a:xfrm>
            <a:off x="2023072" y="801720"/>
            <a:ext cx="3113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Pizza hut</a:t>
            </a:r>
            <a:endParaRPr lang="en-IN" sz="4800" b="1" dirty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EA754-5F74-7981-BABA-26686F3C433B}"/>
              </a:ext>
            </a:extLst>
          </p:cNvPr>
          <p:cNvSpPr txBox="1"/>
          <p:nvPr/>
        </p:nvSpPr>
        <p:spPr>
          <a:xfrm>
            <a:off x="6232071" y="5998139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</a:rPr>
              <a:t>Presented by</a:t>
            </a:r>
          </a:p>
          <a:p>
            <a:r>
              <a:rPr lang="en-US" b="1" i="1" dirty="0">
                <a:solidFill>
                  <a:srgbClr val="00B050"/>
                </a:solidFill>
              </a:rPr>
              <a:t>       Rohini</a:t>
            </a:r>
            <a:endParaRPr lang="en-IN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177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2EBA546-9EE5-1B9B-C000-F3AA41A6C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81488">
            <a:off x="327833" y="74005"/>
            <a:ext cx="2729822" cy="3220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633B96-E220-742C-91D2-BB056807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686" y="-481819"/>
            <a:ext cx="2630609" cy="2242650"/>
          </a:xfrm>
        </p:spPr>
        <p:txBody>
          <a:bodyPr>
            <a:noAutofit/>
          </a:bodyPr>
          <a:lstStyle/>
          <a:p>
            <a:pPr algn="ctr"/>
            <a:r>
              <a:rPr lang="en-US" sz="2585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OBJECTIVE</a:t>
            </a:r>
            <a:endParaRPr lang="en-IN" sz="2585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1057D-E88D-8904-56C9-6E4030E8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253" y="3725173"/>
            <a:ext cx="4211480" cy="1284515"/>
          </a:xfrm>
        </p:spPr>
        <p:txBody>
          <a:bodyPr>
            <a:noAutofit/>
          </a:bodyPr>
          <a:lstStyle/>
          <a:p>
            <a:r>
              <a:rPr lang="en-US" sz="1846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popular pizzas.</a:t>
            </a:r>
          </a:p>
          <a:p>
            <a:endParaRPr lang="en-US" sz="1846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46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Understand order trends by time of day</a:t>
            </a:r>
          </a:p>
          <a:p>
            <a:endParaRPr lang="en-US" sz="1846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46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Revenue, and product preferences</a:t>
            </a:r>
          </a:p>
          <a:p>
            <a:pPr marL="0" indent="0">
              <a:buNone/>
            </a:pPr>
            <a:endParaRPr lang="en-US" sz="1846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46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Track average daily orders and growth</a:t>
            </a:r>
          </a:p>
          <a:p>
            <a:pPr marL="0" indent="0">
              <a:buNone/>
            </a:pPr>
            <a:endParaRPr lang="en-IN" sz="2215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35EF0-421E-C3B0-6FC7-1509CB01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04C97-397C-5DD9-B5AD-879EC07F7FEB}"/>
              </a:ext>
            </a:extLst>
          </p:cNvPr>
          <p:cNvSpPr txBox="1"/>
          <p:nvPr/>
        </p:nvSpPr>
        <p:spPr>
          <a:xfrm>
            <a:off x="3690356" y="1226816"/>
            <a:ext cx="4972845" cy="1512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46" b="1" dirty="0">
                <a:solidFill>
                  <a:schemeClr val="accent2">
                    <a:lumMod val="50000"/>
                  </a:schemeClr>
                </a:solidFill>
              </a:rPr>
              <a:t>To analyze pizza hut sales data using SQL in order to understand customer behavior, revenue trends, and pizza preferences</a:t>
            </a:r>
          </a:p>
          <a:p>
            <a:r>
              <a:rPr lang="en-US" sz="1846" b="1" dirty="0">
                <a:solidFill>
                  <a:schemeClr val="accent2">
                    <a:lumMod val="50000"/>
                  </a:schemeClr>
                </a:solidFill>
              </a:rPr>
              <a:t>And to apply data analysis techniques to Real- business scenarios.</a:t>
            </a:r>
            <a:endParaRPr lang="en-IN" sz="1846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7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FF5091-F738-F598-E4A6-8F1DBE71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8A971-72C3-35C7-CDD5-D42A0D17B53B}"/>
              </a:ext>
            </a:extLst>
          </p:cNvPr>
          <p:cNvSpPr txBox="1"/>
          <p:nvPr/>
        </p:nvSpPr>
        <p:spPr>
          <a:xfrm>
            <a:off x="2935995" y="925417"/>
            <a:ext cx="3933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highlight>
                  <a:srgbClr val="C0C0C0"/>
                </a:highlight>
              </a:rPr>
              <a:t>PROBLEM</a:t>
            </a:r>
            <a:r>
              <a:rPr lang="en-US" sz="2800" dirty="0">
                <a:solidFill>
                  <a:srgbClr val="FF0000"/>
                </a:solidFill>
                <a:highlight>
                  <a:srgbClr val="C0C0C0"/>
                </a:highlight>
              </a:rPr>
              <a:t> </a:t>
            </a:r>
            <a:r>
              <a:rPr lang="en-US" sz="2800" b="1" dirty="0">
                <a:solidFill>
                  <a:srgbClr val="FF0000"/>
                </a:solidFill>
                <a:highlight>
                  <a:srgbClr val="C0C0C0"/>
                </a:highlight>
              </a:rPr>
              <a:t>STATMENT</a:t>
            </a:r>
            <a:endParaRPr lang="en-IN" sz="2800" b="1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3D372-764A-530B-84C8-5AAC7E5BDA36}"/>
              </a:ext>
            </a:extLst>
          </p:cNvPr>
          <p:cNvSpPr txBox="1"/>
          <p:nvPr/>
        </p:nvSpPr>
        <p:spPr>
          <a:xfrm>
            <a:off x="627961" y="1861850"/>
            <a:ext cx="53872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project focuses on analyzing pizza hut’s sales data using SQL to convert raw transaction records into meaningful insights.</a:t>
            </a:r>
            <a:r>
              <a:rPr lang="en-IN" sz="2000" dirty="0"/>
              <a:t>By examining pizza types, </a:t>
            </a:r>
            <a:r>
              <a:rPr lang="en-IN" sz="2000" dirty="0" err="1"/>
              <a:t>quantitessold</a:t>
            </a:r>
            <a:r>
              <a:rPr lang="en-IN" sz="2000" dirty="0"/>
              <a:t>, prices, and customer behaviour, the analysis identifies top-selling items ,revenue trends, and demand patterns. these insights enable better decision-making, helping optimize inventory, improve customer satisfaction, and enhance operational </a:t>
            </a:r>
            <a:r>
              <a:rPr lang="en-IN" sz="2000" dirty="0" err="1"/>
              <a:t>effiency</a:t>
            </a:r>
            <a:r>
              <a:rPr lang="en-IN" sz="2000" dirty="0"/>
              <a:t>.</a:t>
            </a:r>
          </a:p>
          <a:p>
            <a:r>
              <a:rPr lang="en-IN" sz="2000" dirty="0"/>
              <a:t>The transforming large, unstructured datasets into actionable strategies, showcasing its value in the food and enhance customer satisfaction and support data-driven business operation.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225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A239FF-3090-4201-911C-74206CE3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925" y="252706"/>
            <a:ext cx="4112111" cy="1609146"/>
          </a:xfrm>
        </p:spPr>
        <p:txBody>
          <a:bodyPr>
            <a:normAutofit/>
          </a:bodyPr>
          <a:lstStyle/>
          <a:p>
            <a:pPr algn="ctr"/>
            <a:r>
              <a:rPr lang="en-US" sz="2585" b="1" u="sng" dirty="0">
                <a:solidFill>
                  <a:srgbClr val="FF0000"/>
                </a:solidFill>
                <a:latin typeface="+mn-lt"/>
              </a:rPr>
              <a:t>INTRODUCTION</a:t>
            </a:r>
            <a:endParaRPr lang="en-IN" sz="2585" b="1" u="sng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DA70-F231-DD14-4DC3-7A468532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3CEAD-A696-2FC8-B96B-016827A617B5}"/>
              </a:ext>
            </a:extLst>
          </p:cNvPr>
          <p:cNvSpPr txBox="1"/>
          <p:nvPr/>
        </p:nvSpPr>
        <p:spPr>
          <a:xfrm>
            <a:off x="3347756" y="2042182"/>
            <a:ext cx="5807542" cy="88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85" dirty="0"/>
              <a:t>Data includes pizza details, order timings,</a:t>
            </a:r>
          </a:p>
          <a:p>
            <a:r>
              <a:rPr lang="en-US" sz="2585" dirty="0"/>
              <a:t>size., and price</a:t>
            </a:r>
            <a:endParaRPr lang="en-IN" sz="2585" dirty="0"/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623EBB45-C661-F8E9-0CD6-D5CFEEB145F4}"/>
              </a:ext>
            </a:extLst>
          </p:cNvPr>
          <p:cNvSpPr/>
          <p:nvPr/>
        </p:nvSpPr>
        <p:spPr>
          <a:xfrm>
            <a:off x="221708" y="1509312"/>
            <a:ext cx="3126048" cy="2489071"/>
          </a:xfrm>
          <a:prstGeom prst="snip2Diag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Pizzas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Pizza_types</a:t>
            </a:r>
            <a:endParaRPr lang="en-US" sz="28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Orders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endParaRPr lang="en-US" sz="2800" dirty="0">
              <a:solidFill>
                <a:schemeClr val="accent2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60148-37E4-5AC5-D25A-9E4C94DA37F9}"/>
              </a:ext>
            </a:extLst>
          </p:cNvPr>
          <p:cNvSpPr txBox="1"/>
          <p:nvPr/>
        </p:nvSpPr>
        <p:spPr>
          <a:xfrm>
            <a:off x="342894" y="5160689"/>
            <a:ext cx="5177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https://drive.google.com/drive/folders/14IaODHUAeZX548A74cDEunsmNVL6znlc?usp= </a:t>
            </a:r>
            <a:r>
              <a:rPr lang="en-US" sz="2000" b="1" dirty="0" err="1">
                <a:solidFill>
                  <a:srgbClr val="002060"/>
                </a:solidFill>
              </a:rPr>
              <a:t>drive_link</a:t>
            </a:r>
            <a:endParaRPr lang="en-IN" sz="2000" b="1" dirty="0">
              <a:solidFill>
                <a:srgbClr val="002060"/>
              </a:solidFill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2CD02CB5-7B3E-442D-3C1B-5189EB9620CF}"/>
              </a:ext>
            </a:extLst>
          </p:cNvPr>
          <p:cNvSpPr/>
          <p:nvPr/>
        </p:nvSpPr>
        <p:spPr>
          <a:xfrm>
            <a:off x="2608178" y="4467337"/>
            <a:ext cx="3019995" cy="646331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3201F-1B79-1498-6930-E446BAE875BC}"/>
              </a:ext>
            </a:extLst>
          </p:cNvPr>
          <p:cNvSpPr txBox="1"/>
          <p:nvPr/>
        </p:nvSpPr>
        <p:spPr>
          <a:xfrm>
            <a:off x="3185245" y="4590447"/>
            <a:ext cx="2058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 </a:t>
            </a:r>
            <a:r>
              <a:rPr lang="en-US" sz="2000" b="1" dirty="0">
                <a:solidFill>
                  <a:srgbClr val="00B0F0"/>
                </a:solidFill>
              </a:rPr>
              <a:t>set</a:t>
            </a:r>
            <a:r>
              <a:rPr lang="en-US" sz="2000" b="1" dirty="0"/>
              <a:t> link</a:t>
            </a:r>
            <a:endParaRPr lang="en-IN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960" y="1316137"/>
            <a:ext cx="6589781" cy="663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46" b="1" dirty="0">
                <a:solidFill>
                  <a:srgbClr val="00B050"/>
                </a:solidFill>
              </a:rPr>
              <a:t>1.TOTAL ORDERS PLACD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43CDE-5383-D09B-B3FD-0E7AD894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7C1E9-FEB3-AD5D-64FA-D6682E3AA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281" y="1898484"/>
            <a:ext cx="2632842" cy="11303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1C5FE4-4D0D-7158-CDD3-0C3CE651E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192" y="4338560"/>
            <a:ext cx="3059863" cy="12796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D4F4FE-0F52-1611-5948-C06868FBC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454" y="2026056"/>
            <a:ext cx="3979394" cy="12522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73D5F1-D5BC-B94E-59BA-F96B5AD2B6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829" y="3420207"/>
            <a:ext cx="70342" cy="175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5AD6A0-6109-E929-E102-E578C82FA7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419" y="4140229"/>
            <a:ext cx="5018932" cy="24672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9993F7B-AC7B-64DF-BCA1-E08313A5431A}"/>
              </a:ext>
            </a:extLst>
          </p:cNvPr>
          <p:cNvSpPr txBox="1"/>
          <p:nvPr/>
        </p:nvSpPr>
        <p:spPr>
          <a:xfrm>
            <a:off x="366100" y="3458822"/>
            <a:ext cx="4322001" cy="376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46" b="1" dirty="0">
                <a:solidFill>
                  <a:srgbClr val="00B050"/>
                </a:solidFill>
              </a:rPr>
              <a:t>TOTAL REVENUE CALCULATION</a:t>
            </a:r>
            <a:endParaRPr lang="en-IN" sz="1846" b="1" dirty="0">
              <a:solidFill>
                <a:srgbClr val="00B050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A5B0BDD-A6F7-05B9-E11F-51D48E597D41}"/>
              </a:ext>
            </a:extLst>
          </p:cNvPr>
          <p:cNvSpPr/>
          <p:nvPr/>
        </p:nvSpPr>
        <p:spPr>
          <a:xfrm>
            <a:off x="4536829" y="2500829"/>
            <a:ext cx="1008599" cy="35879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98E331E-0CDC-FEF3-4BB0-C6755F9C5DE5}"/>
              </a:ext>
            </a:extLst>
          </p:cNvPr>
          <p:cNvSpPr/>
          <p:nvPr/>
        </p:nvSpPr>
        <p:spPr>
          <a:xfrm>
            <a:off x="5404388" y="4590596"/>
            <a:ext cx="424893" cy="26089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18F0F-2CB2-079E-282E-E90D6CE126F4}"/>
              </a:ext>
            </a:extLst>
          </p:cNvPr>
          <p:cNvSpPr txBox="1"/>
          <p:nvPr/>
        </p:nvSpPr>
        <p:spPr>
          <a:xfrm>
            <a:off x="5500805" y="1435718"/>
            <a:ext cx="142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</a:rPr>
              <a:t>Out put</a:t>
            </a:r>
            <a:endParaRPr lang="en-IN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3" name="Flowchart: Punched Tape 12">
            <a:extLst>
              <a:ext uri="{FF2B5EF4-FFF2-40B4-BE49-F238E27FC236}">
                <a16:creationId xmlns:a16="http://schemas.microsoft.com/office/drawing/2014/main" id="{CFB65414-8C45-96DF-5CB1-DB49AEA27AEE}"/>
              </a:ext>
            </a:extLst>
          </p:cNvPr>
          <p:cNvSpPr/>
          <p:nvPr/>
        </p:nvSpPr>
        <p:spPr>
          <a:xfrm>
            <a:off x="2928016" y="362926"/>
            <a:ext cx="3043125" cy="392632"/>
          </a:xfrm>
          <a:prstGeom prst="flowChartPunchedTap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817" y="428668"/>
            <a:ext cx="2430366" cy="28313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>
            <a:noAutofit/>
          </a:bodyPr>
          <a:lstStyle/>
          <a:p>
            <a:pPr algn="ctr"/>
            <a:r>
              <a:rPr lang="en-US" sz="2400" b="1" i="1" u="sng" dirty="0">
                <a:solidFill>
                  <a:schemeClr val="accent1">
                    <a:lumMod val="50000"/>
                  </a:schemeClr>
                </a:solidFill>
              </a:rPr>
              <a:t>BASIC ANALYSIS</a:t>
            </a:r>
            <a:endParaRPr sz="2400" b="1" i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897" y="3701028"/>
            <a:ext cx="7342318" cy="698298"/>
          </a:xfrm>
        </p:spPr>
        <p:txBody>
          <a:bodyPr>
            <a:noAutofit/>
          </a:bodyPr>
          <a:lstStyle/>
          <a:p>
            <a:br>
              <a:rPr lang="en-IN" sz="1992" b="1" dirty="0"/>
            </a:br>
            <a:br>
              <a:rPr lang="en-IN" sz="1992" b="1" dirty="0"/>
            </a:br>
            <a:endParaRPr sz="1992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2C3A8-E3A3-5AB0-3AFF-465E8471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473D0-5B92-EFE6-0CFD-980C327D0EB7}"/>
              </a:ext>
            </a:extLst>
          </p:cNvPr>
          <p:cNvSpPr txBox="1"/>
          <p:nvPr/>
        </p:nvSpPr>
        <p:spPr>
          <a:xfrm>
            <a:off x="936434" y="1321976"/>
            <a:ext cx="3481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</a:rPr>
              <a:t>most order pizzas size</a:t>
            </a:r>
            <a:br>
              <a:rPr lang="en-IN" sz="2400" dirty="0">
                <a:solidFill>
                  <a:srgbClr val="FF0000"/>
                </a:solidFill>
              </a:rPr>
            </a:b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56DC90-B10A-5DF7-DC53-851EE3FDC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71" y="2294220"/>
            <a:ext cx="4795433" cy="398140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E7EF75-5EDF-56EF-3AB6-EDB9435A8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471" y="3327276"/>
            <a:ext cx="3533632" cy="14458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87AAE1-7AB9-A029-0061-8864D4683A97}"/>
              </a:ext>
            </a:extLst>
          </p:cNvPr>
          <p:cNvSpPr txBox="1"/>
          <p:nvPr/>
        </p:nvSpPr>
        <p:spPr>
          <a:xfrm>
            <a:off x="5996124" y="2724726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</a:rPr>
              <a:t>Out put</a:t>
            </a:r>
            <a:endParaRPr lang="en-IN" b="1" dirty="0">
              <a:solidFill>
                <a:schemeClr val="accent1">
                  <a:lumMod val="50000"/>
                </a:schemeClr>
              </a:solidFill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938A58-5EC3-35E2-3398-175250E8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64951-201A-D730-50A0-CED8028006FB}"/>
              </a:ext>
            </a:extLst>
          </p:cNvPr>
          <p:cNvSpPr txBox="1"/>
          <p:nvPr/>
        </p:nvSpPr>
        <p:spPr>
          <a:xfrm>
            <a:off x="628650" y="1614488"/>
            <a:ext cx="691488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most ordered pizza size (commonly medium or large) indicates customer preference </a:t>
            </a:r>
          </a:p>
          <a:p>
            <a:r>
              <a:rPr lang="en-US" sz="2000" dirty="0"/>
              <a:t>For group sharing and value-for- money deals.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Total revenue reflects strong sales performance for pizzas.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Medium / Large sizes are the most preferred by customers.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High total order count shows strong customer demand.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Callout: Quad Arrow 5">
            <a:extLst>
              <a:ext uri="{FF2B5EF4-FFF2-40B4-BE49-F238E27FC236}">
                <a16:creationId xmlns:a16="http://schemas.microsoft.com/office/drawing/2014/main" id="{6F985A0C-C4A1-EAED-FD12-48C29D7B999E}"/>
              </a:ext>
            </a:extLst>
          </p:cNvPr>
          <p:cNvSpPr/>
          <p:nvPr/>
        </p:nvSpPr>
        <p:spPr>
          <a:xfrm>
            <a:off x="227685" y="1800485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allout: Quad Arrow 6">
            <a:extLst>
              <a:ext uri="{FF2B5EF4-FFF2-40B4-BE49-F238E27FC236}">
                <a16:creationId xmlns:a16="http://schemas.microsoft.com/office/drawing/2014/main" id="{8657F35E-617D-7547-5908-454B29C5E47D}"/>
              </a:ext>
            </a:extLst>
          </p:cNvPr>
          <p:cNvSpPr/>
          <p:nvPr/>
        </p:nvSpPr>
        <p:spPr>
          <a:xfrm>
            <a:off x="235029" y="3280272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Callout: Quad Arrow 7">
            <a:extLst>
              <a:ext uri="{FF2B5EF4-FFF2-40B4-BE49-F238E27FC236}">
                <a16:creationId xmlns:a16="http://schemas.microsoft.com/office/drawing/2014/main" id="{CBCFAFA0-3989-295C-521F-D1636DC6F24C}"/>
              </a:ext>
            </a:extLst>
          </p:cNvPr>
          <p:cNvSpPr/>
          <p:nvPr/>
        </p:nvSpPr>
        <p:spPr>
          <a:xfrm>
            <a:off x="227685" y="5071286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allout: Quad Arrow 8">
            <a:extLst>
              <a:ext uri="{FF2B5EF4-FFF2-40B4-BE49-F238E27FC236}">
                <a16:creationId xmlns:a16="http://schemas.microsoft.com/office/drawing/2014/main" id="{F083B193-9303-B737-E0B0-65AEC2231126}"/>
              </a:ext>
            </a:extLst>
          </p:cNvPr>
          <p:cNvSpPr/>
          <p:nvPr/>
        </p:nvSpPr>
        <p:spPr>
          <a:xfrm>
            <a:off x="227685" y="4250143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BE4B98B3-B3F2-0122-7498-90BE204F625C}"/>
              </a:ext>
            </a:extLst>
          </p:cNvPr>
          <p:cNvSpPr/>
          <p:nvPr/>
        </p:nvSpPr>
        <p:spPr>
          <a:xfrm>
            <a:off x="3117773" y="539827"/>
            <a:ext cx="2908454" cy="461665"/>
          </a:xfrm>
          <a:prstGeom prst="horizontalScroll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49359-D120-7F9B-7E1F-138531AAB2B8}"/>
              </a:ext>
            </a:extLst>
          </p:cNvPr>
          <p:cNvSpPr txBox="1"/>
          <p:nvPr/>
        </p:nvSpPr>
        <p:spPr>
          <a:xfrm>
            <a:off x="3555693" y="539826"/>
            <a:ext cx="2032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INSIGHTS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85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0017" y="862856"/>
            <a:ext cx="3574422" cy="80252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793" b="1" dirty="0"/>
          </a:p>
          <a:p>
            <a:pPr marL="0" indent="0">
              <a:buNone/>
            </a:pPr>
            <a:endParaRPr lang="en-US" sz="1793" b="1" u="sng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sz="2000" b="1" u="sng" dirty="0">
                <a:solidFill>
                  <a:schemeClr val="accent6"/>
                </a:solidFill>
              </a:rPr>
              <a:t>Pizza type total revenue</a:t>
            </a:r>
            <a:endParaRPr lang="en-US" sz="20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sz="1793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C6015-35E2-7D40-A171-813E54A0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66B061-1AE6-5582-5AB7-3DEFAD44A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39" y="3425839"/>
            <a:ext cx="6323" cy="63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62C968-5023-7961-6812-74427EE76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39" y="3343630"/>
            <a:ext cx="6323" cy="1707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19916F-1A43-2C38-8A68-06AB25CD6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11" y="2224799"/>
            <a:ext cx="5910035" cy="36646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AE15BD-42A0-4AB1-E746-7D1B79956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322" y="2936006"/>
            <a:ext cx="3693678" cy="16692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Double Wave 1">
            <a:extLst>
              <a:ext uri="{FF2B5EF4-FFF2-40B4-BE49-F238E27FC236}">
                <a16:creationId xmlns:a16="http://schemas.microsoft.com/office/drawing/2014/main" id="{43395FDB-B4B3-6771-740E-9F8FD89B7AAC}"/>
              </a:ext>
            </a:extLst>
          </p:cNvPr>
          <p:cNvSpPr/>
          <p:nvPr/>
        </p:nvSpPr>
        <p:spPr>
          <a:xfrm>
            <a:off x="2533210" y="329725"/>
            <a:ext cx="4071258" cy="533131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AA01C-6D69-5584-F4BD-5B6A79B2A362}"/>
              </a:ext>
            </a:extLst>
          </p:cNvPr>
          <p:cNvSpPr txBox="1"/>
          <p:nvPr/>
        </p:nvSpPr>
        <p:spPr>
          <a:xfrm>
            <a:off x="2873829" y="379381"/>
            <a:ext cx="3730639" cy="802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1" dirty="0">
                <a:solidFill>
                  <a:srgbClr val="FFC000"/>
                </a:solidFill>
              </a:rPr>
              <a:t> </a:t>
            </a:r>
            <a:r>
              <a:rPr lang="en-IN" sz="2400" b="1" i="1" u="sng" dirty="0">
                <a:solidFill>
                  <a:srgbClr val="FFC000"/>
                </a:solidFill>
              </a:rPr>
              <a:t>INTERMEDIATE ANALYSIS</a:t>
            </a:r>
            <a:br>
              <a:rPr lang="en-IN" sz="2215" b="1" u="sng" dirty="0">
                <a:solidFill>
                  <a:srgbClr val="00B050"/>
                </a:solidFill>
              </a:rPr>
            </a:br>
            <a:endParaRPr lang="en-IN" sz="2215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60B67-E7C8-A73E-B5C0-0B85EB8D6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3CC08-28B0-5892-DAA4-B120C8D51C4A}"/>
              </a:ext>
            </a:extLst>
          </p:cNvPr>
          <p:cNvSpPr txBox="1"/>
          <p:nvPr/>
        </p:nvSpPr>
        <p:spPr>
          <a:xfrm>
            <a:off x="367880" y="978709"/>
            <a:ext cx="41720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B050"/>
                </a:solidFill>
              </a:rPr>
              <a:t>Most expensive pizza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590CFD-44A2-9583-578B-A565FADC6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1" y="1535135"/>
            <a:ext cx="4290822" cy="15970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9A86ED-BE6F-933F-68D2-4CFAC1872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724" y="1546152"/>
            <a:ext cx="2636403" cy="15970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856589-D9DA-F8BD-40E4-629C4B54189C}"/>
              </a:ext>
            </a:extLst>
          </p:cNvPr>
          <p:cNvSpPr txBox="1"/>
          <p:nvPr/>
        </p:nvSpPr>
        <p:spPr>
          <a:xfrm>
            <a:off x="214914" y="3315639"/>
            <a:ext cx="3860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Order trends by hour</a:t>
            </a:r>
            <a:endParaRPr lang="en-IN" sz="2000" b="1" dirty="0">
              <a:solidFill>
                <a:srgbClr val="00B05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AA59116-0F84-4A3E-212B-9C9F1CA18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92" y="3818915"/>
            <a:ext cx="3967293" cy="248077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7F78B99-4F55-2B5D-4182-DBAD05582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998" y="3917939"/>
            <a:ext cx="2374098" cy="21073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6B28A5-6F19-55F3-D7E1-25A1359C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07A8-2DBD-2954-B345-88059E88A5FB}"/>
              </a:ext>
            </a:extLst>
          </p:cNvPr>
          <p:cNvSpPr txBox="1"/>
          <p:nvPr/>
        </p:nvSpPr>
        <p:spPr>
          <a:xfrm>
            <a:off x="402115" y="1544629"/>
            <a:ext cx="72490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Pizzas represent Customer favorites and can be used for promotions,</a:t>
            </a:r>
          </a:p>
          <a:p>
            <a:r>
              <a:rPr lang="en-US" sz="2000" dirty="0"/>
              <a:t>Combos, and upselling.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most Expensive pizza generates premium positioning, even if order </a:t>
            </a:r>
          </a:p>
          <a:p>
            <a:r>
              <a:rPr lang="en-US" sz="2000" dirty="0"/>
              <a:t>frequency is low.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Customers prefer affordable Best- sellers at peak hours,</a:t>
            </a:r>
          </a:p>
          <a:p>
            <a:r>
              <a:rPr lang="en-US" sz="2000" dirty="0"/>
              <a:t>But some segments are drawn to premium, High-value pizzas.</a:t>
            </a:r>
          </a:p>
          <a:p>
            <a:endParaRPr lang="en-US" sz="2000" dirty="0"/>
          </a:p>
          <a:p>
            <a:r>
              <a:rPr lang="en-US" sz="2000" dirty="0"/>
              <a:t>A small set of pizzas contributes a large share of overall</a:t>
            </a:r>
          </a:p>
          <a:p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revenue</a:t>
            </a:r>
            <a:r>
              <a:rPr lang="en-US" b="1" dirty="0">
                <a:solidFill>
                  <a:schemeClr val="accent6"/>
                </a:solidFill>
              </a:rPr>
              <a:t>.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5" name="Callout: Quad Arrow 4">
            <a:extLst>
              <a:ext uri="{FF2B5EF4-FFF2-40B4-BE49-F238E27FC236}">
                <a16:creationId xmlns:a16="http://schemas.microsoft.com/office/drawing/2014/main" id="{6121496A-571E-868C-61F0-9B6192A786C5}"/>
              </a:ext>
            </a:extLst>
          </p:cNvPr>
          <p:cNvSpPr/>
          <p:nvPr/>
        </p:nvSpPr>
        <p:spPr>
          <a:xfrm>
            <a:off x="82627" y="1638272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allout: Quad Arrow 5">
            <a:extLst>
              <a:ext uri="{FF2B5EF4-FFF2-40B4-BE49-F238E27FC236}">
                <a16:creationId xmlns:a16="http://schemas.microsoft.com/office/drawing/2014/main" id="{A1698D89-5671-B53F-7C86-6345C2CE64AC}"/>
              </a:ext>
            </a:extLst>
          </p:cNvPr>
          <p:cNvSpPr/>
          <p:nvPr/>
        </p:nvSpPr>
        <p:spPr>
          <a:xfrm>
            <a:off x="110171" y="3131544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allout: Quad Arrow 6">
            <a:extLst>
              <a:ext uri="{FF2B5EF4-FFF2-40B4-BE49-F238E27FC236}">
                <a16:creationId xmlns:a16="http://schemas.microsoft.com/office/drawing/2014/main" id="{DFF035BF-87D7-05E3-1DD0-D21FF6ED8FEE}"/>
              </a:ext>
            </a:extLst>
          </p:cNvPr>
          <p:cNvSpPr/>
          <p:nvPr/>
        </p:nvSpPr>
        <p:spPr>
          <a:xfrm>
            <a:off x="82627" y="4624816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Callout: Quad Arrow 7">
            <a:extLst>
              <a:ext uri="{FF2B5EF4-FFF2-40B4-BE49-F238E27FC236}">
                <a16:creationId xmlns:a16="http://schemas.microsoft.com/office/drawing/2014/main" id="{864E9E37-46C5-BB5D-1527-0D7F91794BA4}"/>
              </a:ext>
            </a:extLst>
          </p:cNvPr>
          <p:cNvSpPr/>
          <p:nvPr/>
        </p:nvSpPr>
        <p:spPr>
          <a:xfrm>
            <a:off x="110171" y="5523176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65B4B401-943C-21E1-A0BC-5F9CC1AABBD4}"/>
              </a:ext>
            </a:extLst>
          </p:cNvPr>
          <p:cNvSpPr/>
          <p:nvPr/>
        </p:nvSpPr>
        <p:spPr>
          <a:xfrm>
            <a:off x="3393195" y="390399"/>
            <a:ext cx="2401677" cy="461665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65947-AC51-BBC9-B8B9-6517E139D329}"/>
              </a:ext>
            </a:extLst>
          </p:cNvPr>
          <p:cNvSpPr txBox="1"/>
          <p:nvPr/>
        </p:nvSpPr>
        <p:spPr>
          <a:xfrm>
            <a:off x="3068198" y="403167"/>
            <a:ext cx="3007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FFC000"/>
                </a:solidFill>
              </a:rPr>
              <a:t>INSIGHTS</a:t>
            </a:r>
            <a:endParaRPr lang="en-IN" sz="2400" b="1" i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79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6B6BC1-2C4E-C284-930A-1018502E16A9}"/>
              </a:ext>
            </a:extLst>
          </p:cNvPr>
          <p:cNvSpPr txBox="1"/>
          <p:nvPr/>
        </p:nvSpPr>
        <p:spPr>
          <a:xfrm>
            <a:off x="453754" y="1221559"/>
            <a:ext cx="6361184" cy="433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15" b="1" dirty="0">
                <a:solidFill>
                  <a:srgbClr val="92D050"/>
                </a:solidFill>
              </a:rPr>
              <a:t>Cumulative Revenue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90012-DB22-A35D-CCD3-21E5672A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D68787-C4B1-53B0-A80D-D2DA18A2A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2" y="1960705"/>
            <a:ext cx="8748369" cy="423691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E94E5-7649-A92F-8092-E701DF574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766" y="4261375"/>
            <a:ext cx="3042294" cy="2462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D08B524-3AC4-F462-A923-6686E57BFCBC}"/>
              </a:ext>
            </a:extLst>
          </p:cNvPr>
          <p:cNvCxnSpPr/>
          <p:nvPr/>
        </p:nvCxnSpPr>
        <p:spPr>
          <a:xfrm rot="16200000" flipH="1">
            <a:off x="6779165" y="3259590"/>
            <a:ext cx="655441" cy="583894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4934051-238B-FF5A-B8BB-B7EDDAB10BE2}"/>
              </a:ext>
            </a:extLst>
          </p:cNvPr>
          <p:cNvSpPr txBox="1"/>
          <p:nvPr/>
        </p:nvSpPr>
        <p:spPr>
          <a:xfrm>
            <a:off x="6666088" y="3857487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Out put</a:t>
            </a:r>
            <a:endParaRPr lang="en-IN" b="1" dirty="0">
              <a:highlight>
                <a:srgbClr val="C0C0C0"/>
              </a:highlight>
            </a:endParaRPr>
          </a:p>
        </p:txBody>
      </p:sp>
      <p:sp>
        <p:nvSpPr>
          <p:cNvPr id="2" name="Double Wave 1">
            <a:extLst>
              <a:ext uri="{FF2B5EF4-FFF2-40B4-BE49-F238E27FC236}">
                <a16:creationId xmlns:a16="http://schemas.microsoft.com/office/drawing/2014/main" id="{81C2CFE7-0537-0A97-D66B-D816F7149D73}"/>
              </a:ext>
            </a:extLst>
          </p:cNvPr>
          <p:cNvSpPr/>
          <p:nvPr/>
        </p:nvSpPr>
        <p:spPr>
          <a:xfrm>
            <a:off x="2513844" y="431843"/>
            <a:ext cx="4393732" cy="526477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AABC7-ED77-31D4-9FE9-B9420FD9BB7E}"/>
              </a:ext>
            </a:extLst>
          </p:cNvPr>
          <p:cNvSpPr txBox="1"/>
          <p:nvPr/>
        </p:nvSpPr>
        <p:spPr>
          <a:xfrm>
            <a:off x="3252278" y="503769"/>
            <a:ext cx="3298761" cy="43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15" b="1" i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ADVANCED ANALYSIS</a:t>
            </a:r>
            <a:endParaRPr lang="en-IN" sz="2215" b="1" i="1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A64744-59AC-0C21-0660-6FC98BDC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CE3F9-0954-D912-AEEE-842A3027CBC0}"/>
              </a:ext>
            </a:extLst>
          </p:cNvPr>
          <p:cNvSpPr txBox="1"/>
          <p:nvPr/>
        </p:nvSpPr>
        <p:spPr>
          <a:xfrm>
            <a:off x="2666347" y="682760"/>
            <a:ext cx="4820303" cy="43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15" b="1" dirty="0">
                <a:solidFill>
                  <a:srgbClr val="92D050"/>
                </a:solidFill>
              </a:rPr>
              <a:t>Revenue contribution by pizza type</a:t>
            </a:r>
            <a:endParaRPr lang="en-IN" sz="2215" b="1" dirty="0">
              <a:solidFill>
                <a:srgbClr val="92D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B76C8-B0E5-5927-3900-755408A27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85" y="1483137"/>
            <a:ext cx="5218503" cy="447550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BFC5C6-7DA6-1933-E7CE-8AE373045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958" y="2554581"/>
            <a:ext cx="3393757" cy="4166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E597B00-FE81-687A-6A32-EFE560D68D0A}"/>
              </a:ext>
            </a:extLst>
          </p:cNvPr>
          <p:cNvCxnSpPr>
            <a:cxnSpLocks/>
          </p:cNvCxnSpPr>
          <p:nvPr/>
        </p:nvCxnSpPr>
        <p:spPr>
          <a:xfrm>
            <a:off x="5493363" y="1659203"/>
            <a:ext cx="828517" cy="70548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88D6A5-E025-69BD-AA59-894AE9086C08}"/>
              </a:ext>
            </a:extLst>
          </p:cNvPr>
          <p:cNvSpPr txBox="1"/>
          <p:nvPr/>
        </p:nvSpPr>
        <p:spPr>
          <a:xfrm>
            <a:off x="6479304" y="2154471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highlight>
                  <a:srgbClr val="C0C0C0"/>
                </a:highlight>
              </a:rPr>
              <a:t>Output</a:t>
            </a:r>
            <a:endParaRPr lang="en-IN" sz="2000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7249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C22EA5-6C36-79AC-C9E9-76BCDC4C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E45E3-79CC-2D3E-A854-F7CE3A94EEFA}"/>
              </a:ext>
            </a:extLst>
          </p:cNvPr>
          <p:cNvSpPr txBox="1"/>
          <p:nvPr/>
        </p:nvSpPr>
        <p:spPr>
          <a:xfrm>
            <a:off x="366099" y="823568"/>
            <a:ext cx="5407506" cy="433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15" b="1" dirty="0">
                <a:solidFill>
                  <a:srgbClr val="92D050"/>
                </a:solidFill>
              </a:rPr>
              <a:t>Top 3 pizza type by revenue in each category</a:t>
            </a:r>
            <a:endParaRPr lang="en-IN" sz="2215" b="1" dirty="0">
              <a:solidFill>
                <a:srgbClr val="92D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9BA3F-B5CB-7C7E-7539-D6B807785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069" y="3379174"/>
            <a:ext cx="5862" cy="99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AD3320-EE41-EEF3-CD92-0480D8FAD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93" y="1415653"/>
            <a:ext cx="5970511" cy="512326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572E9-4859-4E10-59DA-D86C677D9B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453" y="2921586"/>
            <a:ext cx="2451141" cy="19699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4ED374-F8B9-987C-7706-FD8AD2B6D356}"/>
              </a:ext>
            </a:extLst>
          </p:cNvPr>
          <p:cNvSpPr txBox="1"/>
          <p:nvPr/>
        </p:nvSpPr>
        <p:spPr>
          <a:xfrm>
            <a:off x="7255198" y="2186816"/>
            <a:ext cx="107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Output</a:t>
            </a:r>
            <a:endParaRPr lang="en-IN" dirty="0">
              <a:highlight>
                <a:srgbClr val="C0C0C0"/>
              </a:highlight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C0C2A67-2A9F-1A92-929C-56BE75814E47}"/>
              </a:ext>
            </a:extLst>
          </p:cNvPr>
          <p:cNvCxnSpPr>
            <a:cxnSpLocks/>
          </p:cNvCxnSpPr>
          <p:nvPr/>
        </p:nvCxnSpPr>
        <p:spPr>
          <a:xfrm>
            <a:off x="6483541" y="1756746"/>
            <a:ext cx="719271" cy="5539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49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6C5C-7F00-CB50-FED1-881617920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347" y="1541971"/>
            <a:ext cx="7359003" cy="44614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Revenue Distribution by Pizza Types Certain pizza types (like</a:t>
            </a:r>
          </a:p>
          <a:p>
            <a:pPr marL="0" indent="0">
              <a:buNone/>
            </a:pPr>
            <a:r>
              <a:rPr lang="en-US" sz="2000" dirty="0"/>
              <a:t> classic or Supreme) Contribute a large  percentage of  total Revenue.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In every category (e.g., </a:t>
            </a:r>
            <a:r>
              <a:rPr lang="en-US" sz="2000" dirty="0" err="1"/>
              <a:t>Veggie,Chicken,Supreme</a:t>
            </a:r>
            <a:r>
              <a:rPr lang="en-US" sz="2000" dirty="0"/>
              <a:t>), there</a:t>
            </a:r>
          </a:p>
          <a:p>
            <a:pPr marL="0" indent="0">
              <a:buNone/>
            </a:pPr>
            <a:r>
              <a:rPr lang="en-US" sz="2000" dirty="0"/>
              <a:t> are 3 </a:t>
            </a:r>
          </a:p>
          <a:p>
            <a:pPr marL="0" indent="0">
              <a:buNone/>
            </a:pPr>
            <a:r>
              <a:rPr lang="en-IN" sz="2000" dirty="0"/>
              <a:t> Best _selling pizzas driving most of the</a:t>
            </a:r>
          </a:p>
          <a:p>
            <a:pPr marL="0" indent="0">
              <a:buNone/>
            </a:pPr>
            <a:r>
              <a:rPr lang="en-IN" sz="2000" dirty="0"/>
              <a:t> revenue, suggesting that focusing on them can maximize</a:t>
            </a:r>
          </a:p>
          <a:p>
            <a:pPr marL="0" indent="0">
              <a:buNone/>
            </a:pPr>
            <a:r>
              <a:rPr lang="en-IN" sz="2000" dirty="0"/>
              <a:t> sales.</a:t>
            </a:r>
          </a:p>
          <a:p>
            <a:pPr marL="0" indent="0">
              <a:buNone/>
            </a:pPr>
            <a:r>
              <a:rPr lang="en-IN" sz="2000" dirty="0"/>
              <a:t>Revenue grows steadily over time with Spikes on </a:t>
            </a:r>
            <a:r>
              <a:rPr lang="en-IN" sz="2000" b="1" dirty="0">
                <a:solidFill>
                  <a:srgbClr val="FF0000"/>
                </a:solidFill>
              </a:rPr>
              <a:t>weekends and </a:t>
            </a:r>
            <a:r>
              <a:rPr lang="en-IN" sz="2000" dirty="0"/>
              <a:t>special</a:t>
            </a:r>
          </a:p>
          <a:p>
            <a:pPr marL="0" indent="0">
              <a:buNone/>
            </a:pPr>
            <a:r>
              <a:rPr lang="en-IN" sz="2000" dirty="0"/>
              <a:t> Occasions, highlighting when demand is highest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4C46-E469-FBCA-7747-D1416E1A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9" name="Callout: Quad Arrow 8">
            <a:extLst>
              <a:ext uri="{FF2B5EF4-FFF2-40B4-BE49-F238E27FC236}">
                <a16:creationId xmlns:a16="http://schemas.microsoft.com/office/drawing/2014/main" id="{AF48F1A4-1FD9-D557-A2F9-532930B37296}"/>
              </a:ext>
            </a:extLst>
          </p:cNvPr>
          <p:cNvSpPr/>
          <p:nvPr/>
        </p:nvSpPr>
        <p:spPr>
          <a:xfrm>
            <a:off x="627963" y="1638272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allout: Quad Arrow 9">
            <a:extLst>
              <a:ext uri="{FF2B5EF4-FFF2-40B4-BE49-F238E27FC236}">
                <a16:creationId xmlns:a16="http://schemas.microsoft.com/office/drawing/2014/main" id="{3FBDFC80-9BEE-83DA-7139-E8483B276318}"/>
              </a:ext>
            </a:extLst>
          </p:cNvPr>
          <p:cNvSpPr/>
          <p:nvPr/>
        </p:nvSpPr>
        <p:spPr>
          <a:xfrm>
            <a:off x="600422" y="3280272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Callout: Quad Arrow 10">
            <a:extLst>
              <a:ext uri="{FF2B5EF4-FFF2-40B4-BE49-F238E27FC236}">
                <a16:creationId xmlns:a16="http://schemas.microsoft.com/office/drawing/2014/main" id="{D4A66F7C-FB64-E96A-773B-74E6BC791EDF}"/>
              </a:ext>
            </a:extLst>
          </p:cNvPr>
          <p:cNvSpPr/>
          <p:nvPr/>
        </p:nvSpPr>
        <p:spPr>
          <a:xfrm>
            <a:off x="683049" y="4773544"/>
            <a:ext cx="319488" cy="29745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uble Wave 6">
            <a:extLst>
              <a:ext uri="{FF2B5EF4-FFF2-40B4-BE49-F238E27FC236}">
                <a16:creationId xmlns:a16="http://schemas.microsoft.com/office/drawing/2014/main" id="{A69ED564-3518-42C6-82DF-2BB2587A61E6}"/>
              </a:ext>
            </a:extLst>
          </p:cNvPr>
          <p:cNvSpPr/>
          <p:nvPr/>
        </p:nvSpPr>
        <p:spPr>
          <a:xfrm>
            <a:off x="3238959" y="455418"/>
            <a:ext cx="2743200" cy="399169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C38FC-DA69-150F-13FD-22B6648D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157" y="194722"/>
            <a:ext cx="5519875" cy="994310"/>
          </a:xfrm>
        </p:spPr>
        <p:txBody>
          <a:bodyPr>
            <a:normAutofit/>
          </a:bodyPr>
          <a:lstStyle/>
          <a:p>
            <a:pPr algn="ctr"/>
            <a:r>
              <a:rPr lang="en-US" sz="2585" b="1" i="1" dirty="0">
                <a:solidFill>
                  <a:srgbClr val="FF0000"/>
                </a:solidFill>
              </a:rPr>
              <a:t>     </a:t>
            </a:r>
            <a:r>
              <a:rPr lang="en-US" sz="2585" b="1" i="1" u="sng" dirty="0">
                <a:solidFill>
                  <a:srgbClr val="FFC000"/>
                </a:solidFill>
              </a:rPr>
              <a:t>INSIGHTS</a:t>
            </a:r>
            <a:endParaRPr lang="en-IN" sz="2585" b="1" i="1" u="sng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295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5408593" cy="901814"/>
          </a:xfrm>
        </p:spPr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RECOMMENDATIONS</a:t>
            </a:r>
            <a:endParaRPr sz="2400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90" y="1266941"/>
            <a:ext cx="8019591" cy="218451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Promote best-sellers – Focus marketing on top 3 pizzas in each category since they drive most revenue.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Create combos or offers with high- priced pizzas to attract premium customer.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Plan  campaigns around weekends, festivals, and holidays when demand is highest.</a:t>
            </a:r>
            <a:endParaRPr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419EA-E760-01ED-A94A-BD6573E6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F905CB1-7167-F1D3-B776-51BA1E14C6DD}"/>
              </a:ext>
            </a:extLst>
          </p:cNvPr>
          <p:cNvSpPr/>
          <p:nvPr/>
        </p:nvSpPr>
        <p:spPr>
          <a:xfrm>
            <a:off x="385590" y="749147"/>
            <a:ext cx="243060" cy="991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B964B-854B-CB61-17D5-C24E5A55B50D}"/>
              </a:ext>
            </a:extLst>
          </p:cNvPr>
          <p:cNvSpPr txBox="1"/>
          <p:nvPr/>
        </p:nvSpPr>
        <p:spPr>
          <a:xfrm>
            <a:off x="507120" y="3198167"/>
            <a:ext cx="2070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</a:rPr>
              <a:t>CONCLUTION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0C3BFCB-4579-BC45-7B7D-0A8127B7B213}"/>
              </a:ext>
            </a:extLst>
          </p:cNvPr>
          <p:cNvSpPr/>
          <p:nvPr/>
        </p:nvSpPr>
        <p:spPr>
          <a:xfrm>
            <a:off x="375262" y="3481329"/>
            <a:ext cx="243060" cy="991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831020-E636-A4E6-7CAC-8852ACB704B1}"/>
              </a:ext>
            </a:extLst>
          </p:cNvPr>
          <p:cNvSpPr txBox="1"/>
          <p:nvPr/>
        </p:nvSpPr>
        <p:spPr>
          <a:xfrm>
            <a:off x="419673" y="3610354"/>
            <a:ext cx="801959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  analysis of pizza hut sales data using SQL provides valuable  insights  into customer </a:t>
            </a:r>
          </a:p>
          <a:p>
            <a:r>
              <a:rPr lang="en-US" sz="2000" dirty="0"/>
              <a:t>Preferences, revenue trends, and operational patterns. The  result shows that a few top</a:t>
            </a:r>
          </a:p>
          <a:p>
            <a:r>
              <a:rPr lang="en-US" sz="2000" dirty="0"/>
              <a:t>Pizzas generate the majority of revenue, while Medium and Large size are the most popular </a:t>
            </a:r>
          </a:p>
          <a:p>
            <a:endParaRPr lang="en-US" sz="2000" dirty="0"/>
          </a:p>
          <a:p>
            <a:r>
              <a:rPr lang="en-US" sz="2000" dirty="0"/>
              <a:t>Over all, the study demonstrates how data analysis can support better decision – making and help Pizza Hut maximize growth and customer satisfaction.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4" name="Arrow: Quad 13">
            <a:extLst>
              <a:ext uri="{FF2B5EF4-FFF2-40B4-BE49-F238E27FC236}">
                <a16:creationId xmlns:a16="http://schemas.microsoft.com/office/drawing/2014/main" id="{781C55EC-F06E-862E-E171-1F8F34552273}"/>
              </a:ext>
            </a:extLst>
          </p:cNvPr>
          <p:cNvSpPr/>
          <p:nvPr/>
        </p:nvSpPr>
        <p:spPr>
          <a:xfrm>
            <a:off x="342555" y="3781963"/>
            <a:ext cx="154237" cy="176270"/>
          </a:xfrm>
          <a:prstGeom prst="quad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96D496-C906-28ED-74E1-FED120B120EB}"/>
              </a:ext>
            </a:extLst>
          </p:cNvPr>
          <p:cNvSpPr txBox="1"/>
          <p:nvPr/>
        </p:nvSpPr>
        <p:spPr>
          <a:xfrm>
            <a:off x="4461831" y="3755830"/>
            <a:ext cx="5988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rgbClr val="00B0F0"/>
                </a:solidFill>
                <a:latin typeface="Berlin Sans FB" panose="020E0602020502020306" pitchFamily="34" charset="0"/>
              </a:rPr>
              <a:t>Thank you</a:t>
            </a:r>
            <a:endParaRPr lang="en-IN" sz="4000" b="1" u="sng" dirty="0">
              <a:solidFill>
                <a:srgbClr val="00B0F0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74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779</TotalTime>
  <Words>611</Words>
  <Application>Microsoft Office PowerPoint</Application>
  <PresentationFormat>On-screen Show (4:3)</PresentationFormat>
  <Paragraphs>119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Arial Rounded MT Bold</vt:lpstr>
      <vt:lpstr>Berlin Sans FB</vt:lpstr>
      <vt:lpstr>Calibri</vt:lpstr>
      <vt:lpstr>Calibri Light</vt:lpstr>
      <vt:lpstr>Times New Roman</vt:lpstr>
      <vt:lpstr>Office Theme</vt:lpstr>
      <vt:lpstr>PowerPoint Presentation</vt:lpstr>
      <vt:lpstr>OBJECTIVE</vt:lpstr>
      <vt:lpstr>PowerPoint Presentation</vt:lpstr>
      <vt:lpstr>INTRODUCTION</vt:lpstr>
      <vt:lpstr>BASIC ANALYSIS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INSIGHTS</vt:lpstr>
      <vt:lpstr>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rohini koratana</cp:lastModifiedBy>
  <cp:revision>18</cp:revision>
  <dcterms:created xsi:type="dcterms:W3CDTF">2013-01-27T09:14:16Z</dcterms:created>
  <dcterms:modified xsi:type="dcterms:W3CDTF">2025-10-14T04:00:17Z</dcterms:modified>
  <cp:category/>
</cp:coreProperties>
</file>